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【0:00〜0:05（約5秒）】
奨学金エージェントです。応募できる奨学金を、探して、確かめて届けます。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【0:05〜0:20（約15秒）】
奨学金は、高校生から社会人まで、目的もさまざまです。でも情報は散らばっていて、生成AIに聞くと、募集終了のものが混ざります。実測では、素のAIの回答34件のうち12件、約3分の1が募集終了でした。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【0:20〜0:35（約15秒）】
そこで、探すのはAI、応募できるかの判定は、公式ページを読んでコードで行います。確認できないものは隠さず分け、AIの操作は、検査・人間の承認・監査ログで管理します。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【0:35〜1:30（約55秒）】
筑波大学の理工学群、大学3年、目的は学業・生活費。入力して検索します。進み具合が出ます。結果は、応募できる2件、要確認10件、未確認4件、募集終了7件。要確認には、何を確認するかが付きます。入力を、卒業後の社会人・目的は研究に替えると、出る制度が変わり、目的が違うものは別に分かれます。気になるものは保存して、CSVで持ち帰れます。
（動画を挿入したら、［再生］タブで「自動」または「クリック時」を選ぶ。撮影時は、動画の音声を使うか、ナレーションをこの原稿で読む）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【1:30〜2:10（約40秒）】
他の人にも見える共有リストへの追加は、高リスクの操作です。依頼すると承認待ちで止まり、画面に確認ダイアログが出ます。許可できるのは本人だけで、AIは許可できません。許可すると1回だけ実行され、操作の記録に、誰が、いつ、何を、なぜ、が残ります。
（動画を挿入したら、［再生］タブで「自動」または「クリック時」を選ぶ。撮影時は、動画の音声を使うか、ナレーションをこの原稿で読む）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【2:10〜2:30（約20秒）】
構成は、Cloud Run上の単一のADKエージェントと、3つのツール。探し方と判定、安全装置はコードが持ち、AIは読み取りに使います。データはFirestore、権限は専用のサービスアカウントで最小限です。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【2:30〜2:50（約20秒）】
評価です。自動テスト176件、adk eval 7ケースが合格。素のAIとの比較では、見つかる件数は同程度で、差は確かさでした。小さな実験なので、大幅に多く見つける、とは言いません。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【2:50〜3:00（約10秒）】
応募できる奨学金を、間に合ううちに。拡張として、一覧ページの展開と、検索語の自動選択を進めます。ありがとうございました。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予備。質問が出たとき用。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予備。質問が出たとき用。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100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C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奨学金エージェント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C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 Agentic AI Hackathon with Google Cloud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奨学金エージェント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54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ADD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応募できる奨学金・助成金を、探して「確かめて」届ける</a:t>
            </a:r>
            <a:endParaRPr lang="en-US" sz="2800" dirty="0"/>
          </a:p>
        </p:txBody>
      </p:sp>
      <p:sp>
        <p:nvSpPr>
          <p:cNvPr id="5" name="チップ1"/>
          <p:cNvSpPr/>
          <p:nvPr/>
        </p:nvSpPr>
        <p:spPr>
          <a:xfrm>
            <a:off x="731520" y="429768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381E72"/>
          </a:solidFill>
          <a:ln w="12700">
            <a:solidFill>
              <a:srgbClr val="6750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DD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高校生〜社会人</a:t>
            </a:r>
            <a:endParaRPr lang="en-US" sz="1600" dirty="0"/>
          </a:p>
        </p:txBody>
      </p:sp>
      <p:sp>
        <p:nvSpPr>
          <p:cNvPr id="7" name="チップ2"/>
          <p:cNvSpPr/>
          <p:nvPr/>
        </p:nvSpPr>
        <p:spPr>
          <a:xfrm>
            <a:off x="3520440" y="4297680"/>
            <a:ext cx="4754880" cy="502920"/>
          </a:xfrm>
          <a:prstGeom prst="roundRect">
            <a:avLst>
              <a:gd name="adj" fmla="val 49091"/>
            </a:avLst>
          </a:prstGeom>
          <a:solidFill>
            <a:srgbClr val="381E72"/>
          </a:solidFill>
          <a:ln w="12700">
            <a:solidFill>
              <a:srgbClr val="6750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4297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DD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学業・留学・研究・プロジェクト</a:t>
            </a:r>
            <a:endParaRPr lang="en-US" sz="1600" dirty="0"/>
          </a:p>
        </p:txBody>
      </p:sp>
      <p:sp>
        <p:nvSpPr>
          <p:cNvPr id="9" name="チップ3"/>
          <p:cNvSpPr/>
          <p:nvPr/>
        </p:nvSpPr>
        <p:spPr>
          <a:xfrm>
            <a:off x="8503920" y="429768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381E72"/>
          </a:solidFill>
          <a:ln w="12700">
            <a:solidFill>
              <a:srgbClr val="6750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4297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DD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公式ページで確認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C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生成AIに「全部教えて」と聞くと、募集終了が混ざる</a:t>
            </a:r>
            <a:endParaRPr lang="en-US" sz="3400" dirty="0"/>
          </a:p>
        </p:txBody>
      </p:sp>
      <p:sp>
        <p:nvSpPr>
          <p:cNvPr id="3" name="数字カード1"/>
          <p:cNvSpPr/>
          <p:nvPr/>
        </p:nvSpPr>
        <p:spPr>
          <a:xfrm>
            <a:off x="548640" y="1463040"/>
            <a:ext cx="512064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34件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素のAIが挙げた回答のうち、公式ページで見ると募集終了だったもの</a:t>
            </a:r>
            <a:endParaRPr lang="en-US" sz="1600" dirty="0"/>
          </a:p>
        </p:txBody>
      </p:sp>
      <p:sp>
        <p:nvSpPr>
          <p:cNvPr id="6" name="数字カード2"/>
          <p:cNvSpPr/>
          <p:nvPr/>
        </p:nvSpPr>
        <p:spPr>
          <a:xfrm>
            <a:off x="548640" y="3840480"/>
            <a:ext cx="512064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約半数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20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10月時点で、すでに募集終了だった奨学金（29件中14件を公式要項で照合）</a:t>
            </a:r>
            <a:endParaRPr lang="en-US" sz="1600" dirty="0"/>
          </a:p>
        </p:txBody>
      </p:sp>
      <p:sp>
        <p:nvSpPr>
          <p:cNvPr id="9" name="穴1アイコン 円"/>
          <p:cNvSpPr/>
          <p:nvPr/>
        </p:nvSpPr>
        <p:spPr>
          <a:xfrm>
            <a:off x="6217920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穴1アイコン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15" y="1744675"/>
            <a:ext cx="351130" cy="35113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13232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上位数件しか読まない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漏れる</a:t>
            </a:r>
            <a:endParaRPr lang="en-US" sz="1600" dirty="0"/>
          </a:p>
        </p:txBody>
      </p:sp>
      <p:sp>
        <p:nvSpPr>
          <p:cNvPr id="13" name="穴2アイコン 円"/>
          <p:cNvSpPr/>
          <p:nvPr/>
        </p:nvSpPr>
        <p:spPr>
          <a:xfrm>
            <a:off x="6217920" y="2697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穴2アイコン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15" y="288767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32320" y="2606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古い年度・募集終了を混ぜる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間に合わない</a:t>
            </a:r>
            <a:endParaRPr lang="en-US" sz="1600" dirty="0"/>
          </a:p>
        </p:txBody>
      </p:sp>
      <p:sp>
        <p:nvSpPr>
          <p:cNvPr id="17" name="穴3アイコン 円"/>
          <p:cNvSpPr/>
          <p:nvPr/>
        </p:nvSpPr>
        <p:spPr>
          <a:xfrm>
            <a:off x="6217920" y="3840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穴3アイコン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15" y="403067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3232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自分が対象外の条件を見落とす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学年・地域・卒業後・使途</a:t>
            </a:r>
            <a:endParaRPr lang="en-US" sz="1600" dirty="0"/>
          </a:p>
        </p:txBody>
      </p:sp>
      <p:sp>
        <p:nvSpPr>
          <p:cNvPr id="21" name="穴4アイコン 円"/>
          <p:cNvSpPr/>
          <p:nvPr/>
        </p:nvSpPr>
        <p:spPr>
          <a:xfrm>
            <a:off x="6217920" y="4983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穴4アイコン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15" y="517367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32320" y="4892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「全部」と言えない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7132320" y="5440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どこまで探したか分からない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探すのは AI、判定は「公式ページを読んだ」コード</a:t>
            </a:r>
            <a:endParaRPr lang="en-US" sz="3400" dirty="0"/>
          </a:p>
        </p:txBody>
      </p:sp>
      <p:sp>
        <p:nvSpPr>
          <p:cNvPr id="3" name="カード1"/>
          <p:cNvSpPr/>
          <p:nvPr/>
        </p:nvSpPr>
        <p:spPr>
          <a:xfrm>
            <a:off x="548640" y="1508760"/>
            <a:ext cx="3566160" cy="448056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アイコン1 円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アイコン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00893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確かめる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Google 検索で候補を集める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公式ページを読み、条件を引用つきで抜く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引用が原文にあるか、コードで照合</a:t>
            </a:r>
            <a:endParaRPr lang="en-US" sz="1600" dirty="0"/>
          </a:p>
        </p:txBody>
      </p:sp>
      <p:sp>
        <p:nvSpPr>
          <p:cNvPr id="8" name="カード2"/>
          <p:cNvSpPr/>
          <p:nvPr/>
        </p:nvSpPr>
        <p:spPr>
          <a:xfrm>
            <a:off x="4297680" y="1508760"/>
            <a:ext cx="3566160" cy="448056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アイコン2 円"/>
          <p:cNvSpPr/>
          <p:nvPr/>
        </p:nvSpPr>
        <p:spPr>
          <a:xfrm>
            <a:off x="4617720" y="17830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アイコン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577" y="200893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隠さず分ける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56616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応募できる／要確認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目的が違う／未確認／募集終了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確認できない条件は「合っている」と言わない</a:t>
            </a:r>
            <a:endParaRPr lang="en-US" sz="1600" dirty="0"/>
          </a:p>
        </p:txBody>
      </p:sp>
      <p:sp>
        <p:nvSpPr>
          <p:cNvPr id="13" name="カード3"/>
          <p:cNvSpPr/>
          <p:nvPr/>
        </p:nvSpPr>
        <p:spPr>
          <a:xfrm>
            <a:off x="8046720" y="1508760"/>
            <a:ext cx="3566160" cy="448056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アイコン3 円"/>
          <p:cNvSpPr/>
          <p:nvPr/>
        </p:nvSpPr>
        <p:spPr>
          <a:xfrm>
            <a:off x="8366760" y="17830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アイコン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2008937"/>
            <a:ext cx="416966" cy="41696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880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の操作を管理する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56616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実行前の検査、実行後の記録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他の人に影響する操作は、本人の許可まで停止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 は許可の操作を持たない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デモ①  条件を入れると、確かめた結果が出る</a:t>
            </a:r>
            <a:endParaRPr lang="en-US" sz="3400" dirty="0"/>
          </a:p>
        </p:txBody>
      </p:sp>
      <p:sp>
        <p:nvSpPr>
          <p:cNvPr id="3" name="動画の枠（この上に動画を挿入）"/>
          <p:cNvSpPr/>
          <p:nvPr/>
        </p:nvSpPr>
        <p:spPr>
          <a:xfrm>
            <a:off x="548640" y="1417320"/>
            <a:ext cx="7863840" cy="4425696"/>
          </a:xfrm>
          <a:prstGeom prst="roundRect">
            <a:avLst>
              <a:gd name="adj" fmla="val 2479"/>
            </a:avLst>
          </a:prstGeom>
          <a:solidFill>
            <a:srgbClr val="EFEAF3"/>
          </a:solidFill>
          <a:ln w="19050">
            <a:solidFill>
              <a:srgbClr val="CAC4D0"/>
            </a:solidFill>
            <a:prstDash val="dash"/>
          </a:ln>
        </p:spPr>
      </p:sp>
      <p:pic>
        <p:nvPicPr>
          <p:cNvPr id="4" name="再生アイコン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29260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ここにデモ動画を挿入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3434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［挿入］→［ビデオ］→［このコンピューター上のビデオ］。この枠に重ねて、サイズを合わせる（枠は削除してよい）</a:t>
            </a:r>
            <a:endParaRPr lang="en-US" sz="1200" dirty="0"/>
          </a:p>
        </p:txBody>
      </p:sp>
      <p:sp>
        <p:nvSpPr>
          <p:cNvPr id="7" name="ポイントの枠"/>
          <p:cNvSpPr/>
          <p:nvPr/>
        </p:nvSpPr>
        <p:spPr>
          <a:xfrm>
            <a:off x="8686800" y="1417320"/>
            <a:ext cx="2953512" cy="4425696"/>
          </a:xfrm>
          <a:prstGeom prst="roundRect">
            <a:avLst>
              <a:gd name="adj" fmla="val 46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6112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見てほしいところ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2194560"/>
            <a:ext cx="2468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立場・地域・目的を入力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検索中の経過表示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応募できる／要確認／未確認／募集終了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「確認すること」の表示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立場・目的を替えて再検索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保存とCSV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デモ②  本人が許可するまで、動かない</a:t>
            </a:r>
            <a:endParaRPr lang="en-US" sz="3400" dirty="0"/>
          </a:p>
        </p:txBody>
      </p:sp>
      <p:sp>
        <p:nvSpPr>
          <p:cNvPr id="3" name="動画の枠（この上に動画を挿入）"/>
          <p:cNvSpPr/>
          <p:nvPr/>
        </p:nvSpPr>
        <p:spPr>
          <a:xfrm>
            <a:off x="548640" y="1417320"/>
            <a:ext cx="7863840" cy="4425696"/>
          </a:xfrm>
          <a:prstGeom prst="roundRect">
            <a:avLst>
              <a:gd name="adj" fmla="val 2479"/>
            </a:avLst>
          </a:prstGeom>
          <a:solidFill>
            <a:srgbClr val="EFEAF3"/>
          </a:solidFill>
          <a:ln w="19050">
            <a:solidFill>
              <a:srgbClr val="CAC4D0"/>
            </a:solidFill>
            <a:prstDash val="dash"/>
          </a:ln>
        </p:spPr>
      </p:sp>
      <p:pic>
        <p:nvPicPr>
          <p:cNvPr id="4" name="再生アイコン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29260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ここにデモ動画を挿入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3434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［挿入］→［ビデオ］→［このコンピューター上のビデオ］。この枠に重ねて、サイズを合わせる（枠は削除してよい）</a:t>
            </a:r>
            <a:endParaRPr lang="en-US" sz="1200" dirty="0"/>
          </a:p>
        </p:txBody>
      </p:sp>
      <p:sp>
        <p:nvSpPr>
          <p:cNvPr id="7" name="ポイントの枠"/>
          <p:cNvSpPr/>
          <p:nvPr/>
        </p:nvSpPr>
        <p:spPr>
          <a:xfrm>
            <a:off x="8686800" y="1417320"/>
            <a:ext cx="2953512" cy="4425696"/>
          </a:xfrm>
          <a:prstGeom prst="roundRect">
            <a:avLst>
              <a:gd name="adj" fmla="val 46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6112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見てほしいところ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2194560"/>
            <a:ext cx="2468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共有リストへの追加を依頼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承認待ちで止まる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確認ダイアログ（押せるのは本人だけ）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許可すると、1回だけ実行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操作の記録（誰が・いつ・何を・なぜ）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しくみ: 1つのエージェントと、コードの安全装置</a:t>
            </a:r>
            <a:endParaRPr lang="en-US" sz="3400" dirty="0"/>
          </a:p>
        </p:txBody>
      </p:sp>
      <p:pic>
        <p:nvPicPr>
          <p:cNvPr id="3" name="図1 全体像" descr="C:\Users\shohe\Agentic AI Hackathon\.claude\worktrees\progress-check-3e6fdb\docs\submission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074152" cy="4846320"/>
          </a:xfrm>
          <a:prstGeom prst="rect">
            <a:avLst/>
          </a:prstGeom>
        </p:spPr>
      </p:pic>
      <p:sp>
        <p:nvSpPr>
          <p:cNvPr id="4" name="要点アイコン1 円"/>
          <p:cNvSpPr/>
          <p:nvPr/>
        </p:nvSpPr>
        <p:spPr>
          <a:xfrm>
            <a:off x="9144000" y="14630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要点アイコン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421" y="1629461"/>
            <a:ext cx="307238" cy="30723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921240" y="1417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は読み取りだけ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9144000" y="2194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エージェントは1つ。ツールは3つ</a:t>
            </a:r>
            <a:endParaRPr lang="en-US" sz="1200" dirty="0"/>
          </a:p>
        </p:txBody>
      </p:sp>
      <p:sp>
        <p:nvSpPr>
          <p:cNvPr id="8" name="要点アイコン2 円"/>
          <p:cNvSpPr/>
          <p:nvPr/>
        </p:nvSpPr>
        <p:spPr>
          <a:xfrm>
            <a:off x="9144000" y="3063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要点アイコン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21" y="3229661"/>
            <a:ext cx="307238" cy="3072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921240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判定・安全はコード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9144000" y="37947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検査・承認・監査ログ・上限</a:t>
            </a:r>
            <a:endParaRPr lang="en-US" sz="1200" dirty="0"/>
          </a:p>
        </p:txBody>
      </p:sp>
      <p:sp>
        <p:nvSpPr>
          <p:cNvPr id="12" name="要点アイコン3 円"/>
          <p:cNvSpPr/>
          <p:nvPr/>
        </p:nvSpPr>
        <p:spPr>
          <a:xfrm>
            <a:off x="9144000" y="46634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要点アイコン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421" y="4829861"/>
            <a:ext cx="307238" cy="3072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921240" y="4617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最小権限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9144000" y="53949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専用アカウント・最大1インスタンス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評価: 数字と、正直な限界</a:t>
            </a:r>
            <a:endParaRPr lang="en-US" sz="3400" dirty="0"/>
          </a:p>
        </p:txBody>
      </p:sp>
      <p:sp>
        <p:nvSpPr>
          <p:cNvPr id="3" name="評価カード1"/>
          <p:cNvSpPr/>
          <p:nvPr/>
        </p:nvSpPr>
        <p:spPr>
          <a:xfrm>
            <a:off x="548640" y="1463040"/>
            <a:ext cx="2651760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自動テスト（全件合格）</a:t>
            </a:r>
            <a:endParaRPr lang="en-US" sz="1400" dirty="0"/>
          </a:p>
        </p:txBody>
      </p:sp>
      <p:sp>
        <p:nvSpPr>
          <p:cNvPr id="6" name="評価カード2"/>
          <p:cNvSpPr/>
          <p:nvPr/>
        </p:nvSpPr>
        <p:spPr>
          <a:xfrm>
            <a:off x="3364992" y="1463040"/>
            <a:ext cx="2651760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1600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651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adk eval のケース（全件合格）</a:t>
            </a:r>
            <a:endParaRPr lang="en-US" sz="1400" dirty="0"/>
          </a:p>
        </p:txBody>
      </p:sp>
      <p:sp>
        <p:nvSpPr>
          <p:cNvPr id="9" name="評価カード3"/>
          <p:cNvSpPr/>
          <p:nvPr/>
        </p:nvSpPr>
        <p:spPr>
          <a:xfrm>
            <a:off x="6181344" y="1463040"/>
            <a:ext cx="2651760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600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34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651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素のAIの回答のうち、募集終了</a:t>
            </a:r>
            <a:endParaRPr lang="en-US" sz="1400" dirty="0"/>
          </a:p>
        </p:txBody>
      </p:sp>
      <p:sp>
        <p:nvSpPr>
          <p:cNvPr id="12" name="評価カード4"/>
          <p:cNvSpPr/>
          <p:nvPr/>
        </p:nvSpPr>
        <p:spPr>
          <a:xfrm>
            <a:off x="8997696" y="1463040"/>
            <a:ext cx="2651760" cy="21945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0576" y="1600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対 15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651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見つけた「使える」件数（本エージェント 対 素のAI）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正直な限界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見つかる件数は同程度。差は「確かさ」（募集終了を分ける、引用で確認した締切）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比較は4つの立場で各1回。小さな実験で、「大幅に多く見つける」とは言わない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最初の検索語（年度の固定）は、この実験で劣る原因と分かり、直した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応募できる奨学金を、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間に合ううちに。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これからの拡張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ADDFF"/>
                </a:solidFill>
              </a:rPr>
              <a:t>一覧ページの展開（実験では有効。本番への組み込みは今後）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ADDFF"/>
                </a:solidFill>
              </a:rPr>
              <a:t>検索語の自動選択と、再現率の数値化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ADDFF"/>
                </a:solidFill>
              </a:rPr>
              <a:t>他大学の公開一覧への対応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C4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GitHub: ShoheiFujieda/agentic-ai-hackathon-2026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C4D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付録: 検索の流れ（探すのは AI、判定はコード）</a:t>
            </a:r>
            <a:endParaRPr lang="en-US" sz="3400" dirty="0"/>
          </a:p>
        </p:txBody>
      </p:sp>
      <p:pic>
        <p:nvPicPr>
          <p:cNvPr id="3" name="付録: 検索の流れ（探すのは AI、判定はコード）" descr="C:\Users\shohe\Agentic AI Hackathon\.claude\worktrees\progress-check-3e6fdb\docs\submission\architecture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371600"/>
            <a:ext cx="8595360" cy="48371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付録: 安全装置と人間の承認</a:t>
            </a:r>
            <a:endParaRPr lang="en-US" sz="3400" dirty="0"/>
          </a:p>
        </p:txBody>
      </p:sp>
      <p:pic>
        <p:nvPicPr>
          <p:cNvPr id="3" name="付録: 安全装置と人間の承認" descr="C:\Users\shohe\Agentic AI Hackathon\.claude\worktrees\progress-check-3e6fdb\docs\submission\architecture_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371600"/>
            <a:ext cx="8595360" cy="47274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olarshipAgent">
  <a:themeElements>
    <a:clrScheme name="ScholarshipAgent">
      <a:dk1>
        <a:srgbClr val="1D1B20"/>
      </a:dk1>
      <a:lt1>
        <a:srgbClr val="FFFFFF"/>
      </a:lt1>
      <a:dk2>
        <a:srgbClr val="21005D"/>
      </a:dk2>
      <a:lt2>
        <a:srgbClr val="F3EDF7"/>
      </a:lt2>
      <a:accent1>
        <a:srgbClr val="6750A4"/>
      </a:accent1>
      <a:accent2>
        <a:srgbClr val="1A73E8"/>
      </a:accent2>
      <a:accent3>
        <a:srgbClr val="C77700"/>
      </a:accent3>
      <a:accent4>
        <a:srgbClr val="2E7D32"/>
      </a:accent4>
      <a:accent5>
        <a:srgbClr val="B3261E"/>
      </a:accent5>
      <a:accent6>
        <a:srgbClr val="79747E"/>
      </a:accent6>
      <a:hlink>
        <a:srgbClr val="1A73E8"/>
      </a:hlink>
      <a:folHlink>
        <a:srgbClr val="6750A4"/>
      </a:folHlink>
    </a:clrScheme>
    <a:fontScheme name="ScholarshipAgent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奨学金エージェント 発表スライド</dc:title>
  <dc:subject>PptxGenJS Presentation</dc:subject>
  <dc:creator>Shohei Fujieda</dc:creator>
  <cp:lastModifiedBy>Shohei Fujieda</cp:lastModifiedBy>
  <cp:revision>1</cp:revision>
  <dcterms:created xsi:type="dcterms:W3CDTF">2026-10-15T09:00:50Z</dcterms:created>
  <dcterms:modified xsi:type="dcterms:W3CDTF">2026-10-15T09:00:50Z</dcterms:modified>
</cp:coreProperties>
</file>