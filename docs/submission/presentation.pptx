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【0:00–0:15】
皆さんは、GeminiやClaudeのような生成AIに、調べものを頼んだこと、ありますか？
最近は、Google検索でも、最初にAIのまとめが出て、★便利ですよね。【間】
でも、生成AIの検索は、万能ではありません。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【0:15–0:32】
例えば、奨学金。
私は大学生で、給付型の奨学金を探すんですが、AIに探させると、★5年前の募集を拾ってきたり、すぐ見つかるものを漏らしたり。意外と、うまくいきません。【間】
なぜか？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【0:32–0:50】
奨学金は、大学・財団・自治体のサイトに、散らばっています。AIは、上位数件しか読まない。古い年度や、募集終了を混ぜる。自分が対象外の条件を、見落とす。
実測では、素のAIが挙げた34件のうち、★12件。3分の1が、公式ページで見ると、もう募集終了でした。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【0:50–1:15】
だから、役割を分けました。
探すのは、AI。【間】でも、応募できるかの判定は、公式ページを読んだうえで、★コードが行います。
条件は、原文の引用つきで抜き出して、その引用が本物か、コードが照合。作り話は、判定に使いません。
応募できる、要確認、未確認、募集終了。確認できないものは、★隠しません。
高校生から社会人まで、学業・留学・研究・活動に、対応します。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【1:15–2:00】
では、使ってみます。
筑波大学、理工学群、大学3年。目的は、学業と生活費。／検索。
（動画：進み具合が出る。待ち時間は短縮）
結果です。応募できるが2件、要確認が10件、未確認が4件、募集終了が7件。
募集終了は、★終わっていると、はっきり分かる。要確認には、「何を確かめればいいか」まで書いてあります。
次は、卒業後の社会人、目的は研究。【間】出てくる制度が、変わります。
気になるものは、保存して、CSVで持ち帰れます。
（動画を挿入したら、［再生］タブで「自動」を選ぶ。自分の声を重ねるなら、動画の音量をミュート）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【2:00–2:30】
もう一つ。AIに、★やらせてはいけないことが、あります。
他の人にも見える、共有リストへの追加。頼むと――止まります。承認待ち。
許可できるのは、★本人だけ。AIは、許可できません。
許可すると、1回だけ実行。「誰が、いつ、何を、なぜ」が、記録に残ります。
（動画を挿入したら、［再生］タブで「自動」を選ぶ。自分の声を重ねるなら、動画の音量をミュート）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【2:30–2:42】
構成は、シンプルです。Cloud Runの上に、エージェントは1つ、ツールは3つ。
探し方も、判定も、安全装置も、コード。AIは、★読み取りだけ。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【2:42–2:55】
テストは176件、評価は7ケース、すべて合格。
素のAIと比べて、見つかる数は、同じくらい。違いは、★確かさです。
小さな実験なので、「大幅に多い」とは、言いません。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【2:55–3:00】
応募できる奨学金を、★間に合ううちに。【間】ありがとうございました。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予備。質問が出たとき用。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予備。質問が出たとき用。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100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C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奨学金エージェント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C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生成AIに、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調べものを頼んだこと、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ありますか？</a:t>
            </a:r>
            <a:endParaRPr lang="en-US" sz="5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846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DD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奨学金エージェント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440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応募できる奨学金を、探して「確かめて」届ける　｜　第5回 Agentic AI Hackathon with Google Cloud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C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大学生の私が、AIに奨学金を探させると…</a:t>
            </a:r>
            <a:endParaRPr lang="en-US" sz="3400" dirty="0"/>
          </a:p>
        </p:txBody>
      </p:sp>
      <p:sp>
        <p:nvSpPr>
          <p:cNvPr id="3" name="体験カード1"/>
          <p:cNvSpPr/>
          <p:nvPr/>
        </p:nvSpPr>
        <p:spPr>
          <a:xfrm>
            <a:off x="548640" y="1554480"/>
            <a:ext cx="11064240" cy="1554480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体験アイコン1 円"/>
          <p:cNvSpPr/>
          <p:nvPr/>
        </p:nvSpPr>
        <p:spPr>
          <a:xfrm>
            <a:off x="914400" y="1874520"/>
            <a:ext cx="914400" cy="9144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体験アイコン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211226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194560" y="1554480"/>
            <a:ext cx="9144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5年前の募集を、拾ってくる</a:t>
            </a:r>
            <a:endParaRPr lang="en-US" sz="3600" dirty="0"/>
          </a:p>
        </p:txBody>
      </p:sp>
      <p:sp>
        <p:nvSpPr>
          <p:cNvPr id="7" name="体験カード2"/>
          <p:cNvSpPr/>
          <p:nvPr/>
        </p:nvSpPr>
        <p:spPr>
          <a:xfrm>
            <a:off x="548640" y="3337560"/>
            <a:ext cx="11064240" cy="1554480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体験アイコン2 円"/>
          <p:cNvSpPr/>
          <p:nvPr/>
        </p:nvSpPr>
        <p:spPr>
          <a:xfrm>
            <a:off x="914400" y="3657600"/>
            <a:ext cx="914400" cy="9144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体験アイコン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389534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94560" y="3337560"/>
            <a:ext cx="9144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すぐ見つかるものを、漏らす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意外と、うまくいきません。なぜか？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素のAIの回答34件のうち、12件は募集終了</a:t>
            </a:r>
            <a:endParaRPr lang="en-US" sz="3400" dirty="0"/>
          </a:p>
        </p:txBody>
      </p:sp>
      <p:sp>
        <p:nvSpPr>
          <p:cNvPr id="3" name="数字カード1"/>
          <p:cNvSpPr/>
          <p:nvPr/>
        </p:nvSpPr>
        <p:spPr>
          <a:xfrm>
            <a:off x="548640" y="1463040"/>
            <a:ext cx="512064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34件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43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素のAIが挙げた回答のうち、公式ページで見ると募集終了だったもの</a:t>
            </a:r>
            <a:endParaRPr lang="en-US" sz="1600" dirty="0"/>
          </a:p>
        </p:txBody>
      </p:sp>
      <p:sp>
        <p:nvSpPr>
          <p:cNvPr id="6" name="数字カード2"/>
          <p:cNvSpPr/>
          <p:nvPr/>
        </p:nvSpPr>
        <p:spPr>
          <a:xfrm>
            <a:off x="548640" y="3840480"/>
            <a:ext cx="512064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977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約半数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1206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10月時点で、すでに募集終了だった奨学金（29件中14件を公式要項で照合）</a:t>
            </a:r>
            <a:endParaRPr lang="en-US" sz="1600" dirty="0"/>
          </a:p>
        </p:txBody>
      </p:sp>
      <p:sp>
        <p:nvSpPr>
          <p:cNvPr id="9" name="穴1アイコン 円"/>
          <p:cNvSpPr/>
          <p:nvPr/>
        </p:nvSpPr>
        <p:spPr>
          <a:xfrm>
            <a:off x="6217920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穴1アイコン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8115" y="1744675"/>
            <a:ext cx="351130" cy="35113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132320" y="1463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上位数件しか読まない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132320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漏れる</a:t>
            </a:r>
            <a:endParaRPr lang="en-US" sz="1600" dirty="0"/>
          </a:p>
        </p:txBody>
      </p:sp>
      <p:sp>
        <p:nvSpPr>
          <p:cNvPr id="13" name="穴2アイコン 円"/>
          <p:cNvSpPr/>
          <p:nvPr/>
        </p:nvSpPr>
        <p:spPr>
          <a:xfrm>
            <a:off x="6217920" y="2697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穴2アイコン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15" y="2887675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32320" y="2606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古い年度・募集終了を混ぜる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132320" y="3154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間に合わない</a:t>
            </a:r>
            <a:endParaRPr lang="en-US" sz="1600" dirty="0"/>
          </a:p>
        </p:txBody>
      </p:sp>
      <p:sp>
        <p:nvSpPr>
          <p:cNvPr id="17" name="穴3アイコン 円"/>
          <p:cNvSpPr/>
          <p:nvPr/>
        </p:nvSpPr>
        <p:spPr>
          <a:xfrm>
            <a:off x="6217920" y="3840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穴3アイコン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15" y="4030675"/>
            <a:ext cx="351130" cy="35113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32320" y="3749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自分が対象外の条件を見落とす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7132320" y="4297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学年・地域・卒業後・使途</a:t>
            </a:r>
            <a:endParaRPr lang="en-US" sz="1600" dirty="0"/>
          </a:p>
        </p:txBody>
      </p:sp>
      <p:sp>
        <p:nvSpPr>
          <p:cNvPr id="21" name="穴4アイコン 円"/>
          <p:cNvSpPr/>
          <p:nvPr/>
        </p:nvSpPr>
        <p:spPr>
          <a:xfrm>
            <a:off x="6217920" y="4983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穴4アイコン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15" y="5173675"/>
            <a:ext cx="351130" cy="35113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132320" y="4892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「全部」と言えない</a:t>
            </a:r>
            <a:endParaRPr lang="en-US" sz="2200" dirty="0"/>
          </a:p>
        </p:txBody>
      </p:sp>
      <p:sp>
        <p:nvSpPr>
          <p:cNvPr id="24" name="Text 18"/>
          <p:cNvSpPr txBox="1"/>
          <p:nvPr/>
        </p:nvSpPr>
        <p:spPr>
          <a:xfrm>
            <a:off x="7132320" y="5440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どこまで探したか分からない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探すのは AI、判定は「公式ページを読んだ」コード</a:t>
            </a:r>
            <a:endParaRPr lang="en-US" sz="3400" dirty="0"/>
          </a:p>
        </p:txBody>
      </p:sp>
      <p:sp>
        <p:nvSpPr>
          <p:cNvPr id="3" name="カード1"/>
          <p:cNvSpPr/>
          <p:nvPr/>
        </p:nvSpPr>
        <p:spPr>
          <a:xfrm>
            <a:off x="548640" y="1508760"/>
            <a:ext cx="3566160" cy="448056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アイコン1 円"/>
          <p:cNvSpPr/>
          <p:nvPr/>
        </p:nvSpPr>
        <p:spPr>
          <a:xfrm>
            <a:off x="868680" y="178308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アイコン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00893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880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確かめる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Google 検索で候補を集める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公式ページを読み、条件を引用つきで抜く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引用が原文にあるか、コードで照合</a:t>
            </a:r>
            <a:endParaRPr lang="en-US" sz="1600" dirty="0"/>
          </a:p>
        </p:txBody>
      </p:sp>
      <p:sp>
        <p:nvSpPr>
          <p:cNvPr id="8" name="カード2"/>
          <p:cNvSpPr/>
          <p:nvPr/>
        </p:nvSpPr>
        <p:spPr>
          <a:xfrm>
            <a:off x="4297680" y="1508760"/>
            <a:ext cx="3566160" cy="448056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アイコン2 円"/>
          <p:cNvSpPr/>
          <p:nvPr/>
        </p:nvSpPr>
        <p:spPr>
          <a:xfrm>
            <a:off x="4617720" y="17830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アイコン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577" y="2008937"/>
            <a:ext cx="416966" cy="41696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880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隠さず分ける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35661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応募できる／要確認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目的が違う／未確認／募集終了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確認できない条件は「合っている」と言わない</a:t>
            </a:r>
            <a:endParaRPr lang="en-US" sz="1600" dirty="0"/>
          </a:p>
        </p:txBody>
      </p:sp>
      <p:sp>
        <p:nvSpPr>
          <p:cNvPr id="13" name="カード3"/>
          <p:cNvSpPr/>
          <p:nvPr/>
        </p:nvSpPr>
        <p:spPr>
          <a:xfrm>
            <a:off x="8046720" y="1508760"/>
            <a:ext cx="3566160" cy="448056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アイコン3 円"/>
          <p:cNvSpPr/>
          <p:nvPr/>
        </p:nvSpPr>
        <p:spPr>
          <a:xfrm>
            <a:off x="8366760" y="178308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アイコン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2008937"/>
            <a:ext cx="416966" cy="4169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880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の操作を管理する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5661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実行前の検査、実行後の記録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他の人に影響する操作は、本人の許可まで停止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 は許可の操作を持たない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デモ①  条件を入れると、確かめた結果が出る</a:t>
            </a:r>
            <a:endParaRPr lang="en-US" sz="3400" dirty="0"/>
          </a:p>
        </p:txBody>
      </p:sp>
      <p:sp>
        <p:nvSpPr>
          <p:cNvPr id="3" name="動画の枠（この上に動画を挿入）"/>
          <p:cNvSpPr/>
          <p:nvPr/>
        </p:nvSpPr>
        <p:spPr>
          <a:xfrm>
            <a:off x="548640" y="1417320"/>
            <a:ext cx="7863840" cy="4425696"/>
          </a:xfrm>
          <a:prstGeom prst="roundRect">
            <a:avLst>
              <a:gd name="adj" fmla="val 2479"/>
            </a:avLst>
          </a:prstGeom>
          <a:solidFill>
            <a:srgbClr val="EFEAF3"/>
          </a:solidFill>
          <a:ln w="19050">
            <a:solidFill>
              <a:srgbClr val="CAC4D0"/>
            </a:solidFill>
            <a:prstDash val="dash"/>
          </a:ln>
        </p:spPr>
      </p:sp>
      <p:pic>
        <p:nvPicPr>
          <p:cNvPr id="4" name="再生アイコン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29260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40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ここにデモ動画を挿入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43434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［挿入］→［ビデオ］→［このコンピューター上のビデオ］。この枠に重ねて、サイズを合わせる（枠は削除してよい）</a:t>
            </a:r>
            <a:endParaRPr lang="en-US" sz="1200" dirty="0"/>
          </a:p>
        </p:txBody>
      </p:sp>
      <p:sp>
        <p:nvSpPr>
          <p:cNvPr id="7" name="ポイントの枠"/>
          <p:cNvSpPr/>
          <p:nvPr/>
        </p:nvSpPr>
        <p:spPr>
          <a:xfrm>
            <a:off x="8686800" y="1417320"/>
            <a:ext cx="2953512" cy="4425696"/>
          </a:xfrm>
          <a:prstGeom prst="roundRect">
            <a:avLst>
              <a:gd name="adj" fmla="val 46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見てほしいところ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961120" y="2194560"/>
            <a:ext cx="2468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立場・地域・目的を入力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検索中の経過表示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応募できる／要確認／未確認／募集終了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「確認すること」の表示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立場・目的を替えて再検索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保存とCSV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デモ②  本人が許可するまで、動かない</a:t>
            </a:r>
            <a:endParaRPr lang="en-US" sz="3400" dirty="0"/>
          </a:p>
        </p:txBody>
      </p:sp>
      <p:sp>
        <p:nvSpPr>
          <p:cNvPr id="3" name="動画の枠（この上に動画を挿入）"/>
          <p:cNvSpPr/>
          <p:nvPr/>
        </p:nvSpPr>
        <p:spPr>
          <a:xfrm>
            <a:off x="548640" y="1417320"/>
            <a:ext cx="7863840" cy="4425696"/>
          </a:xfrm>
          <a:prstGeom prst="roundRect">
            <a:avLst>
              <a:gd name="adj" fmla="val 2479"/>
            </a:avLst>
          </a:prstGeom>
          <a:solidFill>
            <a:srgbClr val="EFEAF3"/>
          </a:solidFill>
          <a:ln w="19050">
            <a:solidFill>
              <a:srgbClr val="CAC4D0"/>
            </a:solidFill>
            <a:prstDash val="dash"/>
          </a:ln>
        </p:spPr>
      </p:sp>
      <p:pic>
        <p:nvPicPr>
          <p:cNvPr id="4" name="再生アイコン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29260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40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ここにデモ動画を挿入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43434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［挿入］→［ビデオ］→［このコンピューター上のビデオ］。この枠に重ねて、サイズを合わせる（枠は削除してよい）</a:t>
            </a:r>
            <a:endParaRPr lang="en-US" sz="1200" dirty="0"/>
          </a:p>
        </p:txBody>
      </p:sp>
      <p:sp>
        <p:nvSpPr>
          <p:cNvPr id="7" name="ポイントの枠"/>
          <p:cNvSpPr/>
          <p:nvPr/>
        </p:nvSpPr>
        <p:spPr>
          <a:xfrm>
            <a:off x="8686800" y="1417320"/>
            <a:ext cx="2953512" cy="4425696"/>
          </a:xfrm>
          <a:prstGeom prst="roundRect">
            <a:avLst>
              <a:gd name="adj" fmla="val 46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見てほしいところ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961120" y="2194560"/>
            <a:ext cx="2468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共有リストへの追加を依頼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承認待ちで止まる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確認ダイアログ（押せるのは本人だけ）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許可すると、1回だけ実行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操作の記録（誰が・いつ・何を・なぜ）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しくみ: 1つのエージェントと、コードの安全装置</a:t>
            </a:r>
            <a:endParaRPr lang="en-US" sz="3400" dirty="0"/>
          </a:p>
        </p:txBody>
      </p:sp>
      <p:pic>
        <p:nvPicPr>
          <p:cNvPr id="3" name="図1 全体像" descr="C:\Users\shohe\Agentic AI Hackathon\.claude\worktrees\progress-check-3e6fdb\docs\submission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8074152" cy="4846320"/>
          </a:xfrm>
          <a:prstGeom prst="rect">
            <a:avLst/>
          </a:prstGeom>
        </p:spPr>
      </p:pic>
      <p:sp>
        <p:nvSpPr>
          <p:cNvPr id="4" name="要点アイコン1 円"/>
          <p:cNvSpPr/>
          <p:nvPr/>
        </p:nvSpPr>
        <p:spPr>
          <a:xfrm>
            <a:off x="9144000" y="14630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要点アイコン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0421" y="1629461"/>
            <a:ext cx="307238" cy="30723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21240" y="1417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は読み取りだけ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9144000" y="21945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エージェントは1つ。ツールは3つ</a:t>
            </a:r>
            <a:endParaRPr lang="en-US" sz="1200" dirty="0"/>
          </a:p>
        </p:txBody>
      </p:sp>
      <p:sp>
        <p:nvSpPr>
          <p:cNvPr id="8" name="要点アイコン2 円"/>
          <p:cNvSpPr/>
          <p:nvPr/>
        </p:nvSpPr>
        <p:spPr>
          <a:xfrm>
            <a:off x="9144000" y="30632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要点アイコン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421" y="3229661"/>
            <a:ext cx="307238" cy="30723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921240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判定・安全はコード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9144000" y="37947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検査・承認・監査ログ・上限</a:t>
            </a:r>
            <a:endParaRPr lang="en-US" sz="1200" dirty="0"/>
          </a:p>
        </p:txBody>
      </p:sp>
      <p:sp>
        <p:nvSpPr>
          <p:cNvPr id="12" name="要点アイコン3 円"/>
          <p:cNvSpPr/>
          <p:nvPr/>
        </p:nvSpPr>
        <p:spPr>
          <a:xfrm>
            <a:off x="9144000" y="46634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要点アイコン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0421" y="4829861"/>
            <a:ext cx="307238" cy="30723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921240" y="4617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最小権限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9144000" y="53949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専用アカウント・最大1インスタンス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評価: 数字と、正直な限界</a:t>
            </a:r>
            <a:endParaRPr lang="en-US" sz="3400" dirty="0"/>
          </a:p>
        </p:txBody>
      </p:sp>
      <p:sp>
        <p:nvSpPr>
          <p:cNvPr id="3" name="評価カード1"/>
          <p:cNvSpPr/>
          <p:nvPr/>
        </p:nvSpPr>
        <p:spPr>
          <a:xfrm>
            <a:off x="548640" y="1463040"/>
            <a:ext cx="2651760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自動テスト（全件合格）</a:t>
            </a:r>
            <a:endParaRPr lang="en-US" sz="1400" dirty="0"/>
          </a:p>
        </p:txBody>
      </p:sp>
      <p:sp>
        <p:nvSpPr>
          <p:cNvPr id="6" name="評価カード2"/>
          <p:cNvSpPr/>
          <p:nvPr/>
        </p:nvSpPr>
        <p:spPr>
          <a:xfrm>
            <a:off x="3364992" y="1463040"/>
            <a:ext cx="2651760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7872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adk eval のケース（全件合格）</a:t>
            </a:r>
            <a:endParaRPr lang="en-US" sz="1400" dirty="0"/>
          </a:p>
        </p:txBody>
      </p:sp>
      <p:sp>
        <p:nvSpPr>
          <p:cNvPr id="9" name="評価カード3"/>
          <p:cNvSpPr/>
          <p:nvPr/>
        </p:nvSpPr>
        <p:spPr>
          <a:xfrm>
            <a:off x="6181344" y="1463040"/>
            <a:ext cx="2651760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34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素のAIの回答のうち、募集終了</a:t>
            </a:r>
            <a:endParaRPr lang="en-US" sz="1400" dirty="0"/>
          </a:p>
        </p:txBody>
      </p:sp>
      <p:sp>
        <p:nvSpPr>
          <p:cNvPr id="12" name="評価カード4"/>
          <p:cNvSpPr/>
          <p:nvPr/>
        </p:nvSpPr>
        <p:spPr>
          <a:xfrm>
            <a:off x="8997696" y="1463040"/>
            <a:ext cx="2651760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0576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対 15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180576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見つけた「使える」件数（本エージェント 対 素のAI）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正直な限界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5262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見つかる件数は同程度。差は「確かさ」（募集終了を分ける、引用で確認した締切）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比較は4つの立場で各1回。小さな実験で、「大幅に多く見つける」とは言わない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最初の検索語（年度の固定）は、この実験で劣る原因と分かり、直した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応募できる奨学金を、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間に合ううちに。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これからの拡張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ADDFF"/>
                </a:solidFill>
              </a:rPr>
              <a:t>一覧ページの展開（実験では有効。本番への組み込みは今後）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ADDFF"/>
                </a:solidFill>
              </a:rPr>
              <a:t>検索語の自動選択と、再現率の数値化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ADDFF"/>
                </a:solidFill>
              </a:rPr>
              <a:t>他大学の公開一覧への対応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C4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GitHub: ShoheiFujieda/agentic-ai-hackathon-2026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C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付録: 検索の流れ（探すのは AI、判定はコード）</a:t>
            </a:r>
            <a:endParaRPr lang="en-US" sz="3400" dirty="0"/>
          </a:p>
        </p:txBody>
      </p:sp>
      <p:pic>
        <p:nvPicPr>
          <p:cNvPr id="3" name="付録: 検索の流れ（探すのは AI、判定はコード）" descr="C:\Users\shohe\Agentic AI Hackathon\.claude\worktrees\progress-check-3e6fdb\docs\submission\architecture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595360" cy="483717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付録: 安全装置と人間の承認</a:t>
            </a:r>
            <a:endParaRPr lang="en-US" sz="3400" dirty="0"/>
          </a:p>
        </p:txBody>
      </p:sp>
      <p:pic>
        <p:nvPicPr>
          <p:cNvPr id="3" name="付録: 安全装置と人間の承認" descr="C:\Users\shohe\Agentic AI Hackathon\.claude\worktrees\progress-check-3e6fdb\docs\submission\architecture_safe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595360" cy="47274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holarshipAgent">
  <a:themeElements>
    <a:clrScheme name="ScholarshipAgent">
      <a:dk1>
        <a:srgbClr val="1D1B20"/>
      </a:dk1>
      <a:lt1>
        <a:srgbClr val="FFFFFF"/>
      </a:lt1>
      <a:dk2>
        <a:srgbClr val="21005D"/>
      </a:dk2>
      <a:lt2>
        <a:srgbClr val="F3EDF7"/>
      </a:lt2>
      <a:accent1>
        <a:srgbClr val="6750A4"/>
      </a:accent1>
      <a:accent2>
        <a:srgbClr val="1A73E8"/>
      </a:accent2>
      <a:accent3>
        <a:srgbClr val="C77700"/>
      </a:accent3>
      <a:accent4>
        <a:srgbClr val="2E7D32"/>
      </a:accent4>
      <a:accent5>
        <a:srgbClr val="B3261E"/>
      </a:accent5>
      <a:accent6>
        <a:srgbClr val="79747E"/>
      </a:accent6>
      <a:hlink>
        <a:srgbClr val="1A73E8"/>
      </a:hlink>
      <a:folHlink>
        <a:srgbClr val="6750A4"/>
      </a:folHlink>
    </a:clrScheme>
    <a:fontScheme name="ScholarshipAgent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奨学金エージェント 発表スライド</dc:title>
  <dc:subject>PptxGenJS Presentation</dc:subject>
  <dc:creator>Shohei Fujieda</dc:creator>
  <cp:lastModifiedBy>Shohei Fujieda</cp:lastModifiedBy>
  <cp:revision>1</cp:revision>
  <dcterms:created xsi:type="dcterms:W3CDTF">2026-10-15T14:15:37Z</dcterms:created>
  <dcterms:modified xsi:type="dcterms:W3CDTF">2026-10-15T14:15:37Z</dcterms:modified>
</cp:coreProperties>
</file>